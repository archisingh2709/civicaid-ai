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CivicAid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Turning “I need help” into an actionable, safer path to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/>
            </a:pPr>
            <a:r>
              <a:t>ML Empowerment Build Challenge 3.0</a:t>
            </a:r>
          </a:p>
          <a:p>
            <a:pPr>
              <a:spcAft>
                <a:spcPts val="1000"/>
              </a:spcAft>
              <a:defRPr sz="2400"/>
            </a:pPr>
            <a:r>
              <a:t>Multilingual • Explainable • Social Impact • Student-built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Support exists, but discovery and preparation are fragmented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People may not know which programs fit their situation.</a:t>
            </a:r>
          </a:p>
          <a:p>
            <a:pPr>
              <a:spcAft>
                <a:spcPts val="1000"/>
              </a:spcAft>
              <a:defRPr sz="2200"/>
            </a:pPr>
            <a:r>
              <a:t>Eligibility rules are difficult to interpret across schemes and states.</a:t>
            </a:r>
          </a:p>
          <a:p>
            <a:pPr>
              <a:spcAft>
                <a:spcPts val="1000"/>
              </a:spcAft>
              <a:defRPr sz="2200"/>
            </a:pPr>
            <a:r>
              <a:t>Missing documents create avoidable friction.</a:t>
            </a:r>
          </a:p>
          <a:p>
            <a:pPr>
              <a:spcAft>
                <a:spcPts val="1000"/>
              </a:spcAft>
              <a:defRPr sz="2200"/>
            </a:pPr>
            <a:r>
              <a:t>Users can be exposed to unofficial or unsafe application links.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An AI-assisted public-benefit navigator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20574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User story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61487" y="2990088"/>
            <a:ext cx="594360" cy="411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83280" y="2743200"/>
            <a:ext cx="20574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Profile + ML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504688" y="2990088"/>
            <a:ext cx="594360" cy="411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0574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Ranked support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247888" y="2990088"/>
            <a:ext cx="594360" cy="411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0" y="2743200"/>
            <a:ext cx="20574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Documents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0991088" y="2990088"/>
            <a:ext cx="594360" cy="411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612880" y="2743200"/>
            <a:ext cx="20574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Safe source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What Makes It More Than a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Hybrid intelligence: deterministic eligibility rules + TF-IDF semantic retrieval.</a:t>
            </a:r>
          </a:p>
          <a:p>
            <a:pPr>
              <a:spcAft>
                <a:spcPts val="1000"/>
              </a:spcAft>
              <a:defRPr sz="1900"/>
            </a:pPr>
            <a:r>
              <a:t>Explainable score: users see why a scheme was matched.</a:t>
            </a:r>
          </a:p>
          <a:p>
            <a:pPr>
              <a:spcAft>
                <a:spcPts val="1000"/>
              </a:spcAft>
              <a:defRPr sz="1900"/>
            </a:pPr>
            <a:r>
              <a:t>Document readiness: converts scheme requirements into a preparation checklist.</a:t>
            </a:r>
          </a:p>
          <a:p>
            <a:pPr>
              <a:spcAft>
                <a:spcPts val="1000"/>
              </a:spcAft>
              <a:defRPr sz="1900"/>
            </a:pPr>
            <a:r>
              <a:t>Safety layer: recommends only verified source domains stored with each record.</a:t>
            </a:r>
          </a:p>
          <a:p>
            <a:pPr>
              <a:spcAft>
                <a:spcPts val="1000"/>
              </a:spcAft>
              <a:defRPr sz="1900"/>
            </a:pPr>
            <a:r>
              <a:t>Responsible AI: informational guidance, not an official eligibility decision.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🎯 Personalized scheme discovery</a:t>
            </a:r>
          </a:p>
          <a:p>
            <a:pPr>
              <a:spcAft>
                <a:spcPts val="1000"/>
              </a:spcAft>
              <a:defRPr sz="2000"/>
            </a:pPr>
            <a:r>
              <a:t>📊 Explainable CivicAid score</a:t>
            </a:r>
          </a:p>
          <a:p>
            <a:pPr>
              <a:spcAft>
                <a:spcPts val="1000"/>
              </a:spcAft>
              <a:defRPr sz="2000"/>
            </a:pPr>
            <a:r>
              <a:t>📋 Document readiness tracker</a:t>
            </a:r>
          </a:p>
          <a:p>
            <a:pPr>
              <a:spcAft>
                <a:spcPts val="1000"/>
              </a:spcAft>
              <a:defRPr sz="2000"/>
            </a:pPr>
            <a:r>
              <a:t>🛡️ Official-source safety check</a:t>
            </a:r>
          </a:p>
          <a:p>
            <a:pPr>
              <a:spcAft>
                <a:spcPts val="1000"/>
              </a:spcAft>
              <a:defRPr sz="2000"/>
            </a:pPr>
            <a:r>
              <a:t>🌐 English / Hindi-ready interface</a:t>
            </a:r>
          </a:p>
          <a:p>
            <a:pPr>
              <a:spcAft>
                <a:spcPts val="1000"/>
              </a:spcAft>
              <a:defRPr sz="2000"/>
            </a:pPr>
            <a:r>
              <a:t>🔎 Searchable, grounded scheme knowledge 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AI / ML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743200"/>
            <a:ext cx="20574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Free text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761487" y="2990088"/>
            <a:ext cx="594360" cy="411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83280" y="2743200"/>
            <a:ext cx="20574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TF-IDF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504688" y="2990088"/>
            <a:ext cx="594360" cy="411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26480" y="2743200"/>
            <a:ext cx="20574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Cosine similarity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247888" y="2990088"/>
            <a:ext cx="594360" cy="411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69680" y="2743200"/>
            <a:ext cx="20574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Rule checks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991088" y="2990088"/>
            <a:ext cx="594360" cy="411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612880" y="2743200"/>
            <a:ext cx="20574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Explainable ranking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Frontend: Streamlit</a:t>
            </a:r>
          </a:p>
          <a:p>
            <a:pPr>
              <a:spcAft>
                <a:spcPts val="1000"/>
              </a:spcAft>
              <a:defRPr sz="2100"/>
            </a:pPr>
            <a:r>
              <a:t>ML: Python + scikit-learn (TF-IDF + cosine similarity)</a:t>
            </a:r>
          </a:p>
          <a:p>
            <a:pPr>
              <a:spcAft>
                <a:spcPts val="1000"/>
              </a:spcAft>
              <a:defRPr sz="2100"/>
            </a:pPr>
            <a:r>
              <a:t>Data: JSON knowledge base + Pandas</a:t>
            </a:r>
          </a:p>
          <a:p>
            <a:pPr>
              <a:spcAft>
                <a:spcPts val="1000"/>
              </a:spcAft>
              <a:defRPr sz="2100"/>
            </a:pPr>
            <a:r>
              <a:t>Safety: allowlisted official domains</a:t>
            </a:r>
          </a:p>
          <a:p>
            <a:pPr>
              <a:spcAft>
                <a:spcPts val="1000"/>
              </a:spcAft>
              <a:defRPr sz="2100"/>
            </a:pPr>
            <a:r>
              <a:t>Deployment target: Streamlit Community Cloud / similar</a:t>
            </a:r>
          </a:p>
          <a:p>
            <a:pPr>
              <a:spcAft>
                <a:spcPts val="1000"/>
              </a:spcAft>
              <a:defRPr sz="2100"/>
            </a:pPr>
            <a:r>
              <a:t>Future: cited RAG + multilingual LLM + OCR + voice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Demo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Input: “I’m an engineering student from Madhya Pradesh with low family income and need financial support.”</a:t>
            </a:r>
          </a:p>
          <a:p>
            <a:pPr>
              <a:spcAft>
                <a:spcPts val="1000"/>
              </a:spcAft>
              <a:defRPr sz="2000"/>
            </a:pPr>
            <a:r>
              <a:t>AI ranks relevant programs and shows match reasons.</a:t>
            </a:r>
          </a:p>
          <a:p>
            <a:pPr>
              <a:spcAft>
                <a:spcPts val="1000"/>
              </a:spcAft>
              <a:defRPr sz="2000"/>
            </a:pPr>
            <a:r>
              <a:t>User opens Document Readiness to see what is missing.</a:t>
            </a:r>
          </a:p>
          <a:p>
            <a:pPr>
              <a:spcAft>
                <a:spcPts val="1000"/>
              </a:spcAft>
              <a:defRPr sz="2000"/>
            </a:pPr>
            <a:r>
              <a:t>Safety Check reinforces use of official sources.</a:t>
            </a:r>
          </a:p>
          <a:p>
            <a:pPr>
              <a:spcAft>
                <a:spcPts val="1000"/>
              </a:spcAft>
              <a:defRPr sz="2000"/>
            </a:pPr>
            <a:r>
              <a:t>Final message: less searching, less confusion, safer next step.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Social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Reduces the information gap between citizens and available support.</a:t>
            </a:r>
          </a:p>
          <a:p>
            <a:pPr>
              <a:spcAft>
                <a:spcPts val="1000"/>
              </a:spcAft>
              <a:defRPr sz="2000"/>
            </a:pPr>
            <a:r>
              <a:t>Designed for students, low-income families, rural users and people who need simpler explanations.</a:t>
            </a:r>
          </a:p>
          <a:p>
            <a:pPr>
              <a:spcAft>
                <a:spcPts val="1000"/>
              </a:spcAft>
              <a:defRPr sz="2000"/>
            </a:pPr>
            <a:r>
              <a:t>Can scale from a prototype knowledge base to verified national/state scheme data.</a:t>
            </a:r>
          </a:p>
          <a:p>
            <a:pPr>
              <a:spcAft>
                <a:spcPts val="1000"/>
              </a:spcAft>
              <a:defRPr sz="2000"/>
            </a:pPr>
            <a:r>
              <a:t>Success should be measured by task completion and retrieval accuracy—not chatbot conversation length.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Phase 1 — verified scheme ingestion + citations</a:t>
            </a:r>
          </a:p>
          <a:p>
            <a:pPr>
              <a:spcAft>
                <a:spcPts val="1000"/>
              </a:spcAft>
              <a:defRPr sz="2100"/>
            </a:pPr>
            <a:r>
              <a:t>Phase 2 — multilingual RAG + voice interface</a:t>
            </a:r>
          </a:p>
          <a:p>
            <a:pPr>
              <a:spcAft>
                <a:spcPts val="1000"/>
              </a:spcAft>
              <a:defRPr sz="2100"/>
            </a:pPr>
            <a:r>
              <a:t>Phase 3 — consent-based document OCR + PII redaction</a:t>
            </a:r>
          </a:p>
          <a:p>
            <a:pPr>
              <a:spcAft>
                <a:spcPts val="1000"/>
              </a:spcAft>
              <a:defRPr sz="2100"/>
            </a:pPr>
            <a:r>
              <a:t>Phase 4 — district-level service discovery and accessibility modes</a:t>
            </a:r>
          </a:p>
          <a:p>
            <a:pPr>
              <a:spcAft>
                <a:spcPts val="1000"/>
              </a:spcAft>
              <a:defRPr sz="2100"/>
            </a:pPr>
            <a:r>
              <a:t>Phase 5 — real-world pilot + measured impact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No automated approval or rejection of benefits.</a:t>
            </a:r>
          </a:p>
          <a:p>
            <a:pPr>
              <a:spcAft>
                <a:spcPts val="1000"/>
              </a:spcAft>
              <a:defRPr sz="2100"/>
            </a:pPr>
            <a:r>
              <a:t>Current rules must be verified on official portals.</a:t>
            </a:r>
          </a:p>
          <a:p>
            <a:pPr>
              <a:spcAft>
                <a:spcPts val="1000"/>
              </a:spcAft>
              <a:defRPr sz="2100"/>
            </a:pPr>
            <a:r>
              <a:t>Sensitive documents should be processed only with explicit consent.</a:t>
            </a:r>
          </a:p>
          <a:p>
            <a:pPr>
              <a:spcAft>
                <a:spcPts val="1000"/>
              </a:spcAft>
              <a:defRPr sz="2100"/>
            </a:pPr>
            <a:r>
              <a:t>Ground future answers in source records and show citations.</a:t>
            </a:r>
          </a:p>
          <a:p>
            <a:pPr>
              <a:spcAft>
                <a:spcPts val="1000"/>
              </a:spcAft>
              <a:defRPr sz="2100"/>
            </a:pPr>
            <a:r>
              <a:t>Log evaluation metrics and unsupported-claim rate.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CivicAid AI — Find support. Understand it. Prepare. Apply safely.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700"/>
            </a:pPr>
            <a:r>
              <a:t>AI should not just answer questions—it should reduce the friction between people and real opportunities.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